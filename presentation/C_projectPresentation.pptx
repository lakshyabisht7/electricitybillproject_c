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2050BCC-1744-4977-BA1C-819236BCA12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7"/>
            <p14:sldId id="265"/>
            <p14:sldId id="266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592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91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180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29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6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92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91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40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9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1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32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83923B9-36BE-4B5E-8B84-7625168959C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538A745-8314-4977-BFB5-F5CE20738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2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6387-8FF9-1666-1505-608FFF1DD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613" y="2386744"/>
            <a:ext cx="10697227" cy="1809476"/>
          </a:xfrm>
        </p:spPr>
        <p:txBody>
          <a:bodyPr>
            <a:noAutofit/>
          </a:bodyPr>
          <a:lstStyle/>
          <a:p>
            <a:r>
              <a:rPr lang="en-US" sz="5400" dirty="0"/>
              <a:t>Electricity Bill Generator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14342-EECA-4B5D-6B84-410056C83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7380"/>
            <a:ext cx="9980613" cy="208062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Name: </a:t>
            </a:r>
            <a:r>
              <a:rPr lang="en-US" sz="2400"/>
              <a:t>Lakshya Bisht</a:t>
            </a:r>
            <a:endParaRPr lang="en-US" sz="2400" dirty="0"/>
          </a:p>
          <a:p>
            <a:pPr algn="l"/>
            <a:r>
              <a:rPr lang="en-US" sz="2400" dirty="0"/>
              <a:t>SAP ID: 590027070 </a:t>
            </a:r>
          </a:p>
          <a:p>
            <a:pPr algn="l"/>
            <a:r>
              <a:rPr lang="en-US" sz="2400" dirty="0"/>
              <a:t>B. Tech CSE</a:t>
            </a:r>
          </a:p>
          <a:p>
            <a:pPr algn="l"/>
            <a:r>
              <a:rPr lang="en-US" sz="2400" dirty="0"/>
              <a:t>UPES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endParaRPr lang="en-US" dirty="0"/>
          </a:p>
          <a:p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2327212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8504-D86E-82D6-D477-AEE18401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000" dirty="0"/>
            </a:br>
            <a:r>
              <a:rPr lang="en-IN" sz="4400" dirty="0"/>
              <a:t>Problem DEFINITION</a:t>
            </a:r>
            <a:br>
              <a:rPr lang="en-IN" sz="4900" dirty="0"/>
            </a:br>
            <a:endParaRPr lang="en-IN" sz="4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48A3D-55E5-4696-CC78-DC675D6B8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Electricity bill calculation is generally done through complex tariff rules including slabs, fixed charges, government duties, and late payment charges.</a:t>
            </a:r>
          </a:p>
          <a:p>
            <a:pPr marL="0" indent="0">
              <a:buNone/>
            </a:pPr>
            <a:r>
              <a:rPr lang="en-US" sz="2000" dirty="0"/>
              <a:t>Manually calculating these charges is time-consuming and often leads to errors.</a:t>
            </a:r>
          </a:p>
          <a:p>
            <a:pPr marL="0" indent="0">
              <a:buNone/>
            </a:pPr>
            <a:r>
              <a:rPr lang="en-US" sz="2000" dirty="0"/>
              <a:t>Many users also find it difficult to track and manage electricity usage records for multiple consumers.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65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57B6-617E-F095-CF88-0CEE1573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ACF0-4AE3-AA79-1833-9E14744BA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29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Project Objectives</a:t>
            </a:r>
          </a:p>
          <a:p>
            <a:r>
              <a:rPr lang="en-US" sz="2000" dirty="0"/>
              <a:t>The objective of this project is to:</a:t>
            </a:r>
          </a:p>
          <a:p>
            <a:r>
              <a:rPr lang="en-US" sz="2000" dirty="0"/>
              <a:t>• Automate electricity bill calculation</a:t>
            </a:r>
            <a:br>
              <a:rPr lang="en-US" sz="2000" dirty="0"/>
            </a:br>
            <a:r>
              <a:rPr lang="en-US" sz="2000" dirty="0"/>
              <a:t>• Reduce human calculation errors</a:t>
            </a:r>
            <a:br>
              <a:rPr lang="en-US" sz="2000" dirty="0"/>
            </a:br>
            <a:r>
              <a:rPr lang="en-US" sz="2000" dirty="0"/>
              <a:t>• Apply real tariff slabs in logic</a:t>
            </a:r>
            <a:br>
              <a:rPr lang="en-US" sz="2000" dirty="0"/>
            </a:br>
            <a:r>
              <a:rPr lang="en-US" sz="2000" dirty="0"/>
              <a:t>• Generate a formatted electricity bill</a:t>
            </a:r>
            <a:br>
              <a:rPr lang="en-US" sz="2000" dirty="0"/>
            </a:br>
            <a:r>
              <a:rPr lang="en-US" sz="2000" dirty="0"/>
              <a:t>• Store and manage multiple customers</a:t>
            </a:r>
            <a:br>
              <a:rPr lang="en-US" sz="2000" dirty="0"/>
            </a:br>
            <a:r>
              <a:rPr lang="en-US" sz="2000" dirty="0"/>
              <a:t>• Enable searching customer data</a:t>
            </a:r>
            <a:br>
              <a:rPr lang="en-US" sz="2000" dirty="0"/>
            </a:br>
            <a:r>
              <a:rPr lang="en-US" sz="2000" dirty="0"/>
              <a:t>• Improve understanding of C programming concepts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0714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3B78-B823-2415-5C6E-71760C9D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SCOPE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D722-2800-90B5-22ED-F2C8A46AF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40861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/>
              <a:t>Project Scope</a:t>
            </a:r>
          </a:p>
          <a:p>
            <a:pPr marL="0" indent="0">
              <a:buNone/>
            </a:pPr>
            <a:r>
              <a:rPr lang="en-US" sz="2200" dirty="0"/>
              <a:t>    This project demonstrates:</a:t>
            </a:r>
          </a:p>
          <a:p>
            <a:r>
              <a:rPr lang="en-US" sz="2200" dirty="0"/>
              <a:t>• Slab-wise electricity billing</a:t>
            </a:r>
            <a:br>
              <a:rPr lang="en-US" sz="2200" dirty="0"/>
            </a:br>
            <a:r>
              <a:rPr lang="en-US" sz="2200" dirty="0"/>
              <a:t>• Customer data management</a:t>
            </a:r>
            <a:br>
              <a:rPr lang="en-US" sz="2200" dirty="0"/>
            </a:br>
            <a:r>
              <a:rPr lang="en-US" sz="2200" dirty="0"/>
              <a:t>• Late payment charge handling</a:t>
            </a:r>
            <a:br>
              <a:rPr lang="en-US" sz="2200" dirty="0"/>
            </a:br>
            <a:r>
              <a:rPr lang="en-US" sz="2200" dirty="0"/>
              <a:t>• Searching by ID or Name</a:t>
            </a:r>
            <a:br>
              <a:rPr lang="en-US" sz="2200" dirty="0"/>
            </a:br>
            <a:r>
              <a:rPr lang="en-US" sz="2200" dirty="0"/>
              <a:t>• Structured programming design</a:t>
            </a:r>
            <a:br>
              <a:rPr lang="en-US" sz="2200" dirty="0"/>
            </a:br>
            <a:r>
              <a:rPr lang="en-US" sz="2200" dirty="0"/>
              <a:t>• Function modularity</a:t>
            </a:r>
            <a:br>
              <a:rPr lang="en-US" sz="2200" dirty="0"/>
            </a:br>
            <a:r>
              <a:rPr lang="en-US" sz="2200" dirty="0"/>
              <a:t>• User input validation</a:t>
            </a:r>
            <a:br>
              <a:rPr lang="en-US" sz="2200" dirty="0"/>
            </a:br>
            <a:r>
              <a:rPr lang="en-US" sz="2200" dirty="0"/>
              <a:t>• Personalized bill generation</a:t>
            </a:r>
          </a:p>
          <a:p>
            <a:r>
              <a:rPr lang="en-US" sz="2200" dirty="0"/>
              <a:t>This project simulates real-world billing used by power companies under residential connections.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96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5854E-0D7F-52BA-2338-F8E1B65D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F8E91-7DB1-1474-B869-899EE1A69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86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 Programming Concepts Implemented</a:t>
            </a:r>
          </a:p>
          <a:p>
            <a:r>
              <a:rPr lang="en-US" sz="2000" dirty="0"/>
              <a:t>The following concepts are implemented:</a:t>
            </a:r>
          </a:p>
          <a:p>
            <a:r>
              <a:rPr lang="en-US" sz="2000" dirty="0"/>
              <a:t>• Structures</a:t>
            </a:r>
            <a:br>
              <a:rPr lang="en-US" sz="2000" dirty="0"/>
            </a:br>
            <a:r>
              <a:rPr lang="en-US" sz="2000" dirty="0"/>
              <a:t>• Functions</a:t>
            </a:r>
            <a:br>
              <a:rPr lang="en-US" sz="2000" dirty="0"/>
            </a:br>
            <a:r>
              <a:rPr lang="en-US" sz="2000" dirty="0"/>
              <a:t>• Arrays</a:t>
            </a:r>
            <a:br>
              <a:rPr lang="en-US" sz="2000" dirty="0"/>
            </a:br>
            <a:r>
              <a:rPr lang="en-US" sz="2000" dirty="0"/>
              <a:t>• Conditional statements</a:t>
            </a:r>
            <a:br>
              <a:rPr lang="en-US" sz="2000" dirty="0"/>
            </a:br>
            <a:r>
              <a:rPr lang="en-US" sz="2000" dirty="0"/>
              <a:t>• File handling</a:t>
            </a:r>
            <a:br>
              <a:rPr lang="en-US" sz="2000" dirty="0"/>
            </a:br>
            <a:r>
              <a:rPr lang="en-US" sz="2000" dirty="0"/>
              <a:t>• String handling</a:t>
            </a:r>
            <a:br>
              <a:rPr lang="en-US" sz="2000" dirty="0"/>
            </a:br>
            <a:r>
              <a:rPr lang="en-US" sz="2000" dirty="0"/>
              <a:t>• Input validation</a:t>
            </a:r>
            <a:br>
              <a:rPr lang="en-US" sz="2000" dirty="0"/>
            </a:br>
            <a:r>
              <a:rPr lang="en-US" sz="2000" dirty="0"/>
              <a:t>• Modular programming</a:t>
            </a:r>
            <a:br>
              <a:rPr lang="en-US" sz="2000" dirty="0"/>
            </a:br>
            <a:r>
              <a:rPr lang="en-US" sz="2000" dirty="0"/>
              <a:t>• Pointers to structures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17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EE03-B928-6A25-F1D2-7660F15D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DATA STRUCTURE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D21E0-E83F-3160-2D24-766FD9B40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20536"/>
            <a:ext cx="7729728" cy="41594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900" dirty="0"/>
              <a:t>Customer information is stored using a structure: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typedef struct 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{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int id;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char name[50];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float units;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float load; //Connected load in kW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float </a:t>
            </a:r>
            <a:r>
              <a:rPr lang="en-IN" sz="1900" dirty="0" err="1">
                <a:latin typeface="Consolas" panose="020B0609020204030204" pitchFamily="49" charset="0"/>
              </a:rPr>
              <a:t>energyCharge</a:t>
            </a:r>
            <a:r>
              <a:rPr lang="en-IN" sz="19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float </a:t>
            </a:r>
            <a:r>
              <a:rPr lang="en-IN" sz="1900" dirty="0" err="1">
                <a:latin typeface="Consolas" panose="020B0609020204030204" pitchFamily="49" charset="0"/>
              </a:rPr>
              <a:t>fixedCharge</a:t>
            </a:r>
            <a:r>
              <a:rPr lang="en-IN" sz="19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float duty; //Electricity duty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float surcharge;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    float </a:t>
            </a:r>
            <a:r>
              <a:rPr lang="en-IN" sz="1900" dirty="0" err="1">
                <a:latin typeface="Consolas" panose="020B0609020204030204" pitchFamily="49" charset="0"/>
              </a:rPr>
              <a:t>totalBill</a:t>
            </a:r>
            <a:r>
              <a:rPr lang="en-IN" sz="19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900" dirty="0">
                <a:latin typeface="Consolas" panose="020B0609020204030204" pitchFamily="49" charset="0"/>
              </a:rPr>
              <a:t>} Customer;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689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7C0C-AADB-71B7-8720-AE5C6F90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BILL CALCULATION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FDC1-845D-65B7-CCC0-1588DB682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97293"/>
          </a:xfrm>
        </p:spPr>
        <p:txBody>
          <a:bodyPr>
            <a:normAutofit/>
          </a:bodyPr>
          <a:lstStyle/>
          <a:p>
            <a:r>
              <a:rPr lang="en-IN" sz="2000" b="1" dirty="0"/>
              <a:t>Tariff Calculation Logic</a:t>
            </a:r>
          </a:p>
          <a:p>
            <a:r>
              <a:rPr lang="en-IN" sz="2000" b="1" dirty="0"/>
              <a:t>Energy Charges (Slabs):</a:t>
            </a:r>
            <a:endParaRPr lang="en-IN" sz="2000" dirty="0"/>
          </a:p>
          <a:p>
            <a:r>
              <a:rPr lang="en-IN" sz="2000" dirty="0"/>
              <a:t>• Below 100 units → ₹3.65/unit</a:t>
            </a:r>
            <a:br>
              <a:rPr lang="en-IN" sz="2000" dirty="0"/>
            </a:br>
            <a:r>
              <a:rPr lang="en-IN" sz="2000" dirty="0"/>
              <a:t>• 101–200 units → ₹5.25/unit</a:t>
            </a:r>
            <a:br>
              <a:rPr lang="en-IN" sz="2000" dirty="0"/>
            </a:br>
            <a:r>
              <a:rPr lang="en-IN" sz="2000" dirty="0"/>
              <a:t>• 201–400 units → ₹7.15/unit</a:t>
            </a:r>
            <a:br>
              <a:rPr lang="en-IN" sz="2000" dirty="0"/>
            </a:br>
            <a:r>
              <a:rPr lang="en-IN" sz="2000" dirty="0"/>
              <a:t>• Above 400 units → ₹7.80/unit</a:t>
            </a:r>
          </a:p>
          <a:p>
            <a:r>
              <a:rPr lang="en-IN" sz="2000" b="1" dirty="0"/>
              <a:t>Additional Charges:</a:t>
            </a:r>
            <a:endParaRPr lang="en-IN" sz="2000" dirty="0"/>
          </a:p>
          <a:p>
            <a:r>
              <a:rPr lang="en-IN" sz="2000" dirty="0"/>
              <a:t>• Fixed charge based on load</a:t>
            </a:r>
            <a:br>
              <a:rPr lang="en-IN" sz="2000" dirty="0"/>
            </a:br>
            <a:r>
              <a:rPr lang="en-IN" sz="2000" dirty="0"/>
              <a:t>• Government duty (15%)</a:t>
            </a:r>
            <a:br>
              <a:rPr lang="en-IN" sz="2000" dirty="0"/>
            </a:br>
            <a:r>
              <a:rPr lang="en-IN" sz="2000" dirty="0"/>
              <a:t>• Surcharge (₹0.10/unit)</a:t>
            </a:r>
            <a:br>
              <a:rPr lang="en-IN" sz="2000" dirty="0"/>
            </a:br>
            <a:r>
              <a:rPr lang="en-IN" sz="2000" dirty="0"/>
              <a:t>• Late payment fee (1.25%)</a:t>
            </a:r>
          </a:p>
        </p:txBody>
      </p:sp>
    </p:spTree>
    <p:extLst>
      <p:ext uri="{BB962C8B-B14F-4D97-AF65-F5344CB8AC3E}">
        <p14:creationId xmlns:p14="http://schemas.microsoft.com/office/powerpoint/2010/main" val="303877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E913-1A77-FD4E-E5BB-3BCF133B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/>
              <a:t>PROGRAM FLOW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63F6D-E4FC-0B2C-E167-9BE88E45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97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Program Flow</a:t>
            </a:r>
          </a:p>
          <a:p>
            <a:pPr marL="0" indent="0">
              <a:buNone/>
            </a:pPr>
            <a:r>
              <a:rPr lang="en-US" sz="2000" dirty="0"/>
              <a:t>1.</a:t>
            </a:r>
            <a:r>
              <a:rPr lang="en-US" sz="2000" b="1" dirty="0"/>
              <a:t> </a:t>
            </a:r>
            <a:r>
              <a:rPr lang="en-US" sz="2000" dirty="0"/>
              <a:t>User selects option from menu</a:t>
            </a:r>
          </a:p>
          <a:p>
            <a:pPr marL="0" indent="0">
              <a:buNone/>
            </a:pPr>
            <a:r>
              <a:rPr lang="en-US" sz="2000" dirty="0"/>
              <a:t>2. Customer inputs details</a:t>
            </a:r>
          </a:p>
          <a:p>
            <a:pPr marL="0" indent="0">
              <a:buNone/>
            </a:pPr>
            <a:r>
              <a:rPr lang="en-US" sz="2000" dirty="0"/>
              <a:t>3. Bill is calculated</a:t>
            </a:r>
          </a:p>
          <a:p>
            <a:pPr marL="0" indent="0">
              <a:buNone/>
            </a:pPr>
            <a:r>
              <a:rPr lang="en-US" sz="2000" dirty="0"/>
              <a:t>4. Data is stored</a:t>
            </a:r>
          </a:p>
          <a:p>
            <a:pPr marL="0" indent="0">
              <a:buNone/>
            </a:pPr>
            <a:r>
              <a:rPr lang="en-US" sz="2000" dirty="0"/>
              <a:t>5. Receipt is generated</a:t>
            </a:r>
          </a:p>
          <a:p>
            <a:pPr marL="0" indent="0">
              <a:buNone/>
            </a:pPr>
            <a:r>
              <a:rPr lang="en-US" sz="2000" dirty="0"/>
              <a:t>6. Search operations are performed</a:t>
            </a:r>
          </a:p>
          <a:p>
            <a:pPr marL="0" indent="0">
              <a:buNone/>
            </a:pPr>
            <a:r>
              <a:rPr lang="en-US" sz="2000" dirty="0"/>
              <a:t>7. Output displayed in formatted form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07836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34750-C390-0923-9C55-03EE5C4F7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5260"/>
            <a:ext cx="7729728" cy="1188720"/>
          </a:xfrm>
        </p:spPr>
        <p:txBody>
          <a:bodyPr>
            <a:normAutofit/>
          </a:bodyPr>
          <a:lstStyle/>
          <a:p>
            <a:r>
              <a:rPr lang="en-US" sz="4000" dirty="0"/>
              <a:t>FLOWCHART</a:t>
            </a:r>
            <a:endParaRPr lang="en-IN" sz="4000" dirty="0"/>
          </a:p>
        </p:txBody>
      </p:sp>
      <p:pic>
        <p:nvPicPr>
          <p:cNvPr id="4" name="Content Placeholder 3" descr="A diagram of a menu loop&#10;&#10;AI-generated content may be incorrect.">
            <a:extLst>
              <a:ext uri="{FF2B5EF4-FFF2-40B4-BE49-F238E27FC236}">
                <a16:creationId xmlns:a16="http://schemas.microsoft.com/office/drawing/2014/main" id="{45A7EDAE-870D-43BD-5C8E-F73A28EF4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8" y="2186248"/>
            <a:ext cx="7731125" cy="42158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3386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B912C-2417-2D96-E492-8200A5F12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7666" y="2313433"/>
            <a:ext cx="1929163" cy="704087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Function</a:t>
            </a:r>
            <a:endParaRPr lang="en-IN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B9378-F6DA-6B27-D4B6-342AF399F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67667" y="3143250"/>
            <a:ext cx="2486017" cy="2596776"/>
          </a:xfrm>
        </p:spPr>
        <p:txBody>
          <a:bodyPr>
            <a:normAutofit/>
          </a:bodyPr>
          <a:lstStyle/>
          <a:p>
            <a:pPr fontAlgn="ctr"/>
            <a:r>
              <a:rPr lang="en-IN" dirty="0" err="1"/>
              <a:t>calculateBill</a:t>
            </a:r>
            <a:r>
              <a:rPr lang="en-IN" dirty="0"/>
              <a:t>() </a:t>
            </a:r>
          </a:p>
          <a:p>
            <a:pPr fontAlgn="ctr"/>
            <a:r>
              <a:rPr lang="en-IN" dirty="0" err="1"/>
              <a:t>addCustomer</a:t>
            </a:r>
            <a:r>
              <a:rPr lang="en-IN" dirty="0"/>
              <a:t>()</a:t>
            </a:r>
          </a:p>
          <a:p>
            <a:pPr fontAlgn="ctr"/>
            <a:r>
              <a:rPr lang="en-IN" dirty="0" err="1"/>
              <a:t>generateReceipt</a:t>
            </a:r>
            <a:r>
              <a:rPr lang="en-IN" dirty="0"/>
              <a:t>()</a:t>
            </a:r>
          </a:p>
          <a:p>
            <a:pPr fontAlgn="ctr"/>
            <a:r>
              <a:rPr lang="en-IN" dirty="0" err="1"/>
              <a:t>searchByID</a:t>
            </a:r>
            <a:r>
              <a:rPr lang="en-IN" dirty="0"/>
              <a:t>()</a:t>
            </a:r>
          </a:p>
          <a:p>
            <a:pPr fontAlgn="ctr"/>
            <a:r>
              <a:rPr lang="en-IN" dirty="0" err="1"/>
              <a:t>searchByName</a:t>
            </a:r>
            <a:r>
              <a:rPr lang="en-IN" dirty="0"/>
              <a:t>()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DC2CF4-F707-D0C9-362F-DBEED0B2A3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2727625" cy="2596776"/>
          </a:xfrm>
        </p:spPr>
        <p:txBody>
          <a:bodyPr>
            <a:normAutofit/>
          </a:bodyPr>
          <a:lstStyle/>
          <a:p>
            <a:r>
              <a:rPr lang="en-IN" dirty="0"/>
              <a:t>Calculates complete bill</a:t>
            </a:r>
          </a:p>
          <a:p>
            <a:r>
              <a:rPr lang="en-IN" dirty="0"/>
              <a:t>Stores user data</a:t>
            </a:r>
          </a:p>
          <a:p>
            <a:r>
              <a:rPr lang="en-IN" dirty="0"/>
              <a:t>Displays formatted bill</a:t>
            </a:r>
          </a:p>
          <a:p>
            <a:r>
              <a:rPr lang="en-IN" dirty="0"/>
              <a:t>Finds customer by ID</a:t>
            </a:r>
          </a:p>
          <a:p>
            <a:r>
              <a:rPr lang="en-IN" dirty="0"/>
              <a:t>Finds customer by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824FEB-7F81-4959-D682-8F615CE23E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2313433"/>
            <a:ext cx="2171481" cy="704087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purpose</a:t>
            </a:r>
            <a:endParaRPr lang="en-IN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B3CDF-C0E6-B49C-78E1-D7C23712A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FUNCTIONS USED</a:t>
            </a:r>
          </a:p>
        </p:txBody>
      </p:sp>
    </p:spTree>
    <p:extLst>
      <p:ext uri="{BB962C8B-B14F-4D97-AF65-F5344CB8AC3E}">
        <p14:creationId xmlns:p14="http://schemas.microsoft.com/office/powerpoint/2010/main" val="327253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66F5-3EA6-0989-4F74-CA823998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SEARCH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7BA06-827E-3835-61D6-7503ECB1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project allows:</a:t>
            </a:r>
          </a:p>
          <a:p>
            <a:r>
              <a:rPr lang="en-US" sz="2000" dirty="0"/>
              <a:t>• Searching customer by ID</a:t>
            </a:r>
            <a:br>
              <a:rPr lang="en-US" sz="2000" dirty="0"/>
            </a:br>
            <a:r>
              <a:rPr lang="en-US" sz="2000" dirty="0"/>
              <a:t>• Searching customer by Name</a:t>
            </a:r>
            <a:br>
              <a:rPr lang="en-US" sz="2000" dirty="0"/>
            </a:br>
            <a:r>
              <a:rPr lang="en-US" sz="2000" dirty="0"/>
              <a:t>• Quick record access</a:t>
            </a:r>
            <a:br>
              <a:rPr lang="en-US" sz="2000" dirty="0"/>
            </a:br>
            <a:r>
              <a:rPr lang="en-US" sz="2000" dirty="0"/>
              <a:t>• Improved data management</a:t>
            </a:r>
          </a:p>
          <a:p>
            <a:r>
              <a:rPr lang="en-US" sz="2000" dirty="0"/>
              <a:t>This makes the project closer to real utility software.</a:t>
            </a:r>
          </a:p>
        </p:txBody>
      </p:sp>
    </p:spTree>
    <p:extLst>
      <p:ext uri="{BB962C8B-B14F-4D97-AF65-F5344CB8AC3E}">
        <p14:creationId xmlns:p14="http://schemas.microsoft.com/office/powerpoint/2010/main" val="923875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D0E5-2758-A51D-477F-70592C94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67267"/>
            <a:ext cx="7729728" cy="423747"/>
          </a:xfrm>
        </p:spPr>
        <p:txBody>
          <a:bodyPr>
            <a:noAutofit/>
          </a:bodyPr>
          <a:lstStyle/>
          <a:p>
            <a:r>
              <a:rPr lang="en-US" sz="2000" dirty="0"/>
              <a:t>SAMPLE OUTPUT-1</a:t>
            </a:r>
            <a:endParaRPr lang="en-IN" sz="2000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084A0F6-2FD8-3B11-1540-DDEE994AB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107" y="714375"/>
            <a:ext cx="6590371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55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229E-BABB-BE26-6132-117B5473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3745"/>
            <a:ext cx="7729728" cy="418060"/>
          </a:xfrm>
        </p:spPr>
        <p:txBody>
          <a:bodyPr>
            <a:noAutofit/>
          </a:bodyPr>
          <a:lstStyle/>
          <a:p>
            <a:r>
              <a:rPr lang="en-US" sz="2000" dirty="0"/>
              <a:t>SAMPLE OUTPUT-2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7C7FAF-C2FA-4BE4-4EEF-E972B9502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5503" y="646113"/>
            <a:ext cx="6679580" cy="621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39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C8E5-1536-303D-C110-F3582A30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Error handling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3E1E-892A-6A03-59A0-169EB1C6B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093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Input Validation</a:t>
            </a:r>
          </a:p>
          <a:p>
            <a:r>
              <a:rPr lang="en-US" sz="2000" dirty="0"/>
              <a:t>Handled cases:</a:t>
            </a:r>
          </a:p>
          <a:p>
            <a:r>
              <a:rPr lang="en-US" sz="2000" dirty="0"/>
              <a:t>• Duplicate ID</a:t>
            </a:r>
            <a:br>
              <a:rPr lang="en-US" sz="2000" dirty="0"/>
            </a:br>
            <a:r>
              <a:rPr lang="en-US" sz="2000" dirty="0"/>
              <a:t>• Negative units</a:t>
            </a:r>
            <a:br>
              <a:rPr lang="en-US" sz="2000" dirty="0"/>
            </a:br>
            <a:r>
              <a:rPr lang="en-US" sz="2000" dirty="0"/>
              <a:t>• Invalid load capacity</a:t>
            </a:r>
            <a:br>
              <a:rPr lang="en-US" sz="2000" dirty="0"/>
            </a:br>
            <a:r>
              <a:rPr lang="en-US" sz="2000" dirty="0"/>
              <a:t>• Wrong late-payment input</a:t>
            </a:r>
            <a:br>
              <a:rPr lang="en-US" sz="2000" dirty="0"/>
            </a:br>
            <a:r>
              <a:rPr lang="en-US" sz="2000" dirty="0"/>
              <a:t>• Limit check for customers</a:t>
            </a:r>
          </a:p>
          <a:p>
            <a:r>
              <a:rPr lang="en-US" sz="2000" dirty="0"/>
              <a:t>This makes the program reliable and stable.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07675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407F-A042-8513-A0E6-D3B19573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8D3F-9AFE-168C-46AE-A64E40073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255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Project Highlights:</a:t>
            </a:r>
          </a:p>
          <a:p>
            <a:r>
              <a:rPr lang="en-US" sz="2000" dirty="0"/>
              <a:t>• Slab implementation</a:t>
            </a:r>
            <a:br>
              <a:rPr lang="en-US" sz="2000" dirty="0"/>
            </a:br>
            <a:r>
              <a:rPr lang="en-US" sz="2000" dirty="0"/>
              <a:t>• Realistic tariff</a:t>
            </a:r>
            <a:br>
              <a:rPr lang="en-US" sz="2000" dirty="0"/>
            </a:br>
            <a:r>
              <a:rPr lang="en-US" sz="2000" dirty="0"/>
              <a:t>• Late fee system</a:t>
            </a:r>
            <a:br>
              <a:rPr lang="en-US" sz="2000" dirty="0"/>
            </a:br>
            <a:r>
              <a:rPr lang="en-US" sz="2000" dirty="0"/>
              <a:t>• Search feature</a:t>
            </a:r>
            <a:br>
              <a:rPr lang="en-US" sz="2000" dirty="0"/>
            </a:br>
            <a:r>
              <a:rPr lang="en-US" sz="2000" dirty="0"/>
              <a:t>• Bill breakdown</a:t>
            </a:r>
            <a:br>
              <a:rPr lang="en-US" sz="2000" dirty="0"/>
            </a:br>
            <a:r>
              <a:rPr lang="en-US" sz="2000" dirty="0"/>
              <a:t>• Customer management system</a:t>
            </a:r>
            <a:br>
              <a:rPr lang="en-US" sz="2000" dirty="0"/>
            </a:br>
            <a:r>
              <a:rPr lang="en-US" sz="2000" dirty="0"/>
              <a:t>• Professional user interface</a:t>
            </a:r>
            <a:br>
              <a:rPr lang="en-US" sz="2000" dirty="0"/>
            </a:br>
            <a:r>
              <a:rPr lang="en-US" sz="2000" dirty="0"/>
              <a:t>• Professional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3678117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807B-3016-49F8-FF02-85536B27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LIMITATIONS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B073E-D0C7-A975-9247-E4DFF53E6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Current Limitations</a:t>
            </a:r>
          </a:p>
          <a:p>
            <a:r>
              <a:rPr lang="en-US" sz="2000" dirty="0"/>
              <a:t>• No monthly billing history </a:t>
            </a:r>
            <a:br>
              <a:rPr lang="en-US" sz="2000" dirty="0"/>
            </a:br>
            <a:r>
              <a:rPr lang="en-US" sz="2000" dirty="0"/>
              <a:t>• No date and time on bill </a:t>
            </a:r>
          </a:p>
          <a:p>
            <a:r>
              <a:rPr lang="en-US" sz="2000" dirty="0"/>
              <a:t>• No Graphical Interface (GUI)</a:t>
            </a:r>
            <a:br>
              <a:rPr lang="en-US" sz="2000" dirty="0"/>
            </a:br>
            <a:r>
              <a:rPr lang="en-US" sz="2000" dirty="0"/>
              <a:t>• Single month billing</a:t>
            </a:r>
          </a:p>
        </p:txBody>
      </p:sp>
    </p:spTree>
    <p:extLst>
      <p:ext uri="{BB962C8B-B14F-4D97-AF65-F5344CB8AC3E}">
        <p14:creationId xmlns:p14="http://schemas.microsoft.com/office/powerpoint/2010/main" val="42097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5C47-3FDD-349D-48AF-09769368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FUTURE SCOPE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CE4EA-5777-FD78-7EC3-F9E4B5EDD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Future Enhancements:</a:t>
            </a:r>
          </a:p>
          <a:p>
            <a:r>
              <a:rPr lang="en-IN" sz="2000" dirty="0"/>
              <a:t>Billing history</a:t>
            </a:r>
          </a:p>
          <a:p>
            <a:r>
              <a:rPr lang="en-IN" sz="2000" dirty="0"/>
              <a:t>Export to PDF</a:t>
            </a:r>
          </a:p>
          <a:p>
            <a:r>
              <a:rPr lang="en-IN" sz="2000" dirty="0"/>
              <a:t>GUI application</a:t>
            </a:r>
          </a:p>
          <a:p>
            <a:r>
              <a:rPr lang="en-IN" sz="2000" dirty="0"/>
              <a:t>Date and Time stamp on bill</a:t>
            </a:r>
          </a:p>
          <a:p>
            <a:r>
              <a:rPr lang="en-IN" sz="2000" dirty="0"/>
              <a:t>Admin panel (password protected)</a:t>
            </a:r>
          </a:p>
          <a:p>
            <a:r>
              <a:rPr lang="en-IN" sz="2000" dirty="0"/>
              <a:t>Online Payment Feature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69263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52B8-6090-837E-B82A-05C75F8C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REFERENCES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D395E-A3D3-287A-B0F4-EC754D252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Classroom lectures/notes</a:t>
            </a:r>
            <a:br>
              <a:rPr lang="en-US" dirty="0"/>
            </a:br>
            <a:r>
              <a:rPr lang="en-US" dirty="0"/>
              <a:t>• Let Us C Book</a:t>
            </a:r>
            <a:br>
              <a:rPr lang="en-US" dirty="0"/>
            </a:br>
            <a:r>
              <a:rPr lang="en-US" dirty="0"/>
              <a:t>• UPCL Official Tariff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Youtube</a:t>
            </a:r>
            <a:r>
              <a:rPr lang="en-US" dirty="0"/>
              <a:t> lectures</a:t>
            </a:r>
            <a:br>
              <a:rPr lang="en-US" dirty="0"/>
            </a:br>
            <a:r>
              <a:rPr lang="en-US" dirty="0"/>
              <a:t>• Project discussion with faculty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306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F1D2-7531-0027-595D-16F1ACC6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concLUSION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A807-A567-0028-A335-752A21F09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071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project helped me understand how real-world electricity billing works and how it can be implemented using C programming. Through this project, I also improved my understanding of structures, functions, and logical conditions in C. Handling customer records and generating formatted bills made the project more practical and meaningful.</a:t>
            </a:r>
          </a:p>
          <a:p>
            <a:pPr marL="0" indent="0">
              <a:buNone/>
            </a:pPr>
            <a:r>
              <a:rPr lang="en-US" sz="2000" dirty="0"/>
              <a:t>Overall, this project was a good learning experience and helped me gain confidence in implementing logic-based programs in C.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0753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CAAA-9CFB-9818-A4E7-FE9DB6C65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Thank you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0874D-1DB5-E413-1269-3C044A302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53978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201</TotalTime>
  <Words>743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Consolas</vt:lpstr>
      <vt:lpstr>Gill Sans MT</vt:lpstr>
      <vt:lpstr>Parcel</vt:lpstr>
      <vt:lpstr>Electricity Bill Generator</vt:lpstr>
      <vt:lpstr> Problem DEFINITION </vt:lpstr>
      <vt:lpstr>OBJECTIVE OF THE PROJECT</vt:lpstr>
      <vt:lpstr>SCOPE OF THE PROJECT</vt:lpstr>
      <vt:lpstr>CONCEPTS USED</vt:lpstr>
      <vt:lpstr>DATA STRUCTURE USED</vt:lpstr>
      <vt:lpstr>BILL CALCULATION LOGIC</vt:lpstr>
      <vt:lpstr>PROGRAM FLOW</vt:lpstr>
      <vt:lpstr>FLOWCHART</vt:lpstr>
      <vt:lpstr>FUNCTIONS USED</vt:lpstr>
      <vt:lpstr>SEARCH FEATURE</vt:lpstr>
      <vt:lpstr>SAMPLE OUTPUT-1</vt:lpstr>
      <vt:lpstr>SAMPLE OUTPUT-2</vt:lpstr>
      <vt:lpstr>Error handling</vt:lpstr>
      <vt:lpstr>NOVELTY</vt:lpstr>
      <vt:lpstr>LIMITATIONS</vt:lpstr>
      <vt:lpstr>FUTURE SCOPE</vt:lpstr>
      <vt:lpstr>REFERENCES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Lakshya Bisht</dc:creator>
  <cp:lastModifiedBy>Lakshya Bisht</cp:lastModifiedBy>
  <cp:revision>2</cp:revision>
  <dcterms:created xsi:type="dcterms:W3CDTF">2025-12-02T15:01:02Z</dcterms:created>
  <dcterms:modified xsi:type="dcterms:W3CDTF">2025-12-02T18:26:54Z</dcterms:modified>
</cp:coreProperties>
</file>